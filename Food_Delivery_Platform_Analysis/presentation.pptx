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6B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0A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8C5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Bangalore</c:v>
                  </c:pt>
                  <c:pt idx="1">
                    <c:v>Mumbai</c:v>
                  </c:pt>
                  <c:pt idx="2">
                    <c:v>Hyderabad</c:v>
                  </c:pt>
                  <c:pt idx="3">
                    <c:v>Delhi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84748</c:v>
                </c:pt>
                <c:pt idx="1">
                  <c:v>79934</c:v>
                </c:pt>
                <c:pt idx="2">
                  <c:v>76861</c:v>
                </c:pt>
                <c:pt idx="3">
                  <c:v>76258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₹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4572000" cy="45720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CC"/>
                </a:solidFill>
              </a:rPr>
              <a:t>A comprehensive review of KPIs, city performance, customer insights,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AAACC"/>
                </a:solidFill>
              </a:rPr>
              <a:t>and strategic recommendations across 4 major cities.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Prepared by: Dev Daxinkumar Patel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Platform-wide metrics at a glance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250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All cities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651760" cy="1645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₹3.18L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INR 317,801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71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₹1,594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Order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Gross per order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65176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46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2.98/5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Rating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⚠ Below average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65176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246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52.5 min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5468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Delivery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⚠ Too slow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51760" cy="164592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246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 Customers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Retention rate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City-wise Market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Revenue contribution across 4 major cities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1097280"/>
            <a:ext cx="64008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152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Bangalore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481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₹84,748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1152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TOP PERFORMER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43600" y="2057400"/>
            <a:ext cx="283464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2057400"/>
            <a:ext cx="64008" cy="777240"/>
          </a:xfrm>
          <a:prstGeom prst="rect">
            <a:avLst/>
          </a:prstGeom>
          <a:solidFill>
            <a:srgbClr val="E96B80"/>
          </a:solidFill>
          <a:ln w="12700">
            <a:solidFill>
              <a:srgbClr val="E96B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112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Mumbai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441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₹79,934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1122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96B80"/>
                </a:solidFill>
              </a:rPr>
              <a:t>2nd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43600" y="3017520"/>
            <a:ext cx="283464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3017520"/>
            <a:ext cx="64008" cy="777240"/>
          </a:xfrm>
          <a:prstGeom prst="rect">
            <a:avLst/>
          </a:prstGeom>
          <a:solidFill>
            <a:srgbClr val="F4A0AC"/>
          </a:solidFill>
          <a:ln w="12700">
            <a:solidFill>
              <a:srgbClr val="F4A0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072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Hyderabad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401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₹76,861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3072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4A0AC"/>
                </a:solidFill>
              </a:rPr>
              <a:t>3rd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43600" y="3977640"/>
            <a:ext cx="283464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3977640"/>
            <a:ext cx="64008" cy="777240"/>
          </a:xfrm>
          <a:prstGeom prst="rect">
            <a:avLst/>
          </a:prstGeom>
          <a:solidFill>
            <a:srgbClr val="F8C5CC"/>
          </a:solidFill>
          <a:ln w="12700">
            <a:solidFill>
              <a:srgbClr val="F8C5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4032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Delhi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0" y="4361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₹76,258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40325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8C5CC"/>
                </a:solidFill>
              </a:rPr>
              <a:t>4th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Operational &amp; Customer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</a:rPr>
              <a:t>Critical concerns and behavioral trends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737360"/>
          </a:xfrm>
          <a:prstGeom prst="rect">
            <a:avLst/>
          </a:prstGeom>
          <a:solidFill>
            <a:srgbClr val="E94560">
              <a:alpha val="15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⚠ Low Customer Rating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2.98/5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Below 3.0 industry standard. Driven by food quality, packaging, and delivery experience issues.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1737360"/>
          </a:xfrm>
          <a:prstGeom prst="rect">
            <a:avLst/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⚠ High Delivery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52.5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Significantly above desired 30-35 min window. Likely the primary driver of low ratings.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39319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38%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Repeat Customers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3154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Healthy retention, room to grow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9319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Fast Food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3502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Top Category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154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72 orders – largest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39319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3.18 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4416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Cloud Kitchen 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Best rated category on platform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39319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41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UPI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00600" y="4416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DD"/>
                </a:solidFill>
              </a:rPr>
              <a:t>Top Payment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AA"/>
                </a:solidFill>
              </a:rPr>
              <a:t>Most preferred digital payment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Priority actions to drive growth and customer satisfaction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Reduce Delivery Lead Times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Optimize rider routing in high-volume areas (Bangalore first)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Partner with restaurants to cut Kitchen Preparation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070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Improve Customer 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190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Launch 'Quality Guarantee' for restaurants rated below 3.0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76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Build feedback loops: identify cold food, missing items,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64008" cy="1828800"/>
          </a:xfrm>
          <a:prstGeom prst="rect">
            <a:avLst/>
          </a:prstGeom>
          <a:solidFill>
            <a:srgbClr val="1E7E34"/>
          </a:solidFill>
          <a:ln w="12700">
            <a:solidFill>
              <a:srgbClr val="1E7E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729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E34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1729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Boost Customer Retention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Introduce tiered loyalty program targeting 62% one-time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422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Offer Free Delivery on repeat orders within 30-day window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63240"/>
            <a:ext cx="6400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729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1729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Scale Cloud Kitchen Partners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6850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Cloud Kitchens show 3.18 avg rating vs platform 2.98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</a:rPr>
              <a:t>Scaling these partnerships improves overall sentiment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A1A2E">
              <a:alpha val="20000"/>
            </a:srgbClr>
          </a:solidFill>
          <a:ln w="12700">
            <a:solidFill>
              <a:srgbClr val="1A1A2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Bangalore leads revenue but all 4 cities show stable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Customer rating (2.98) and delivery time (52.5 min) need urgent attention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5117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38% retention is a strong foundation — loyalty programs can accelerate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181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UPI dominance demands seamless digital payment experience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850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Fast Food is volume king; Cloud Kitchens are quality leaders — scale both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</a:rPr>
              <a:t>Report by Dev Daxinkumar Patel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Platform Performance Analysis</dc:title>
  <dc:subject>PptxGenJS Presentation</dc:subject>
  <dc:creator>PptxGenJS</dc:creator>
  <cp:lastModifiedBy>PptxGenJS</cp:lastModifiedBy>
  <cp:revision>1</cp:revision>
  <dcterms:created xsi:type="dcterms:W3CDTF">2026-05-06T17:33:20Z</dcterms:created>
  <dcterms:modified xsi:type="dcterms:W3CDTF">2026-05-06T17:33:20Z</dcterms:modified>
</cp:coreProperties>
</file>